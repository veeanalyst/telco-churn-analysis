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Hanken Grotesk Medium"/>
      <p:regular r:id="rId18"/>
      <p:bold r:id="rId19"/>
      <p:italic r:id="rId20"/>
      <p:boldItalic r:id="rId21"/>
    </p:embeddedFont>
    <p:embeddedFont>
      <p:font typeface="Neuton Light"/>
      <p:regular r:id="rId22"/>
      <p:bold r:id="rId23"/>
      <p:boldItalic r:id="rId24"/>
    </p:embeddedFont>
    <p:embeddedFont>
      <p:font typeface="Hanken Grotesk"/>
      <p:regular r:id="rId25"/>
      <p:bold r:id="rId26"/>
      <p:italic r:id="rId27"/>
      <p:boldItalic r:id="rId28"/>
    </p:embeddedFont>
    <p:embeddedFont>
      <p:font typeface="Hanken Grotesk SemiBold"/>
      <p:regular r:id="rId29"/>
      <p:bold r:id="rId30"/>
      <p:italic r:id="rId31"/>
      <p:boldItalic r:id="rId32"/>
    </p:embeddedFont>
    <p:embeddedFont>
      <p:font typeface="Neuton"/>
      <p:regular r:id="rId33"/>
      <p:bold r:id="rId34"/>
      <p:italic r:id="rId35"/>
    </p:embeddedFont>
    <p:embeddedFont>
      <p:font typeface="Hanken Grotesk Ligh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Medium-italic.fntdata"/><Relationship Id="rId22" Type="http://schemas.openxmlformats.org/officeDocument/2006/relationships/font" Target="fonts/NeutonLight-regular.fntdata"/><Relationship Id="rId21" Type="http://schemas.openxmlformats.org/officeDocument/2006/relationships/font" Target="fonts/HankenGroteskMedium-boldItalic.fntdata"/><Relationship Id="rId24" Type="http://schemas.openxmlformats.org/officeDocument/2006/relationships/font" Target="fonts/NeutonLight-boldItalic.fntdata"/><Relationship Id="rId23" Type="http://schemas.openxmlformats.org/officeDocument/2006/relationships/font" Target="fonts/NeutonLight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ankenGrotesk-bold.fntdata"/><Relationship Id="rId25" Type="http://schemas.openxmlformats.org/officeDocument/2006/relationships/font" Target="fonts/HankenGrotesk-regular.fntdata"/><Relationship Id="rId28" Type="http://schemas.openxmlformats.org/officeDocument/2006/relationships/font" Target="fonts/HankenGrotesk-boldItalic.fntdata"/><Relationship Id="rId27" Type="http://schemas.openxmlformats.org/officeDocument/2006/relationships/font" Target="fonts/HankenGrotesk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ankenGrotesk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ankenGroteskSemiBold-italic.fntdata"/><Relationship Id="rId30" Type="http://schemas.openxmlformats.org/officeDocument/2006/relationships/font" Target="fonts/HankenGroteskSemiBold-bold.fntdata"/><Relationship Id="rId11" Type="http://schemas.openxmlformats.org/officeDocument/2006/relationships/slide" Target="slides/slide5.xml"/><Relationship Id="rId33" Type="http://schemas.openxmlformats.org/officeDocument/2006/relationships/font" Target="fonts/Neuton-regular.fntdata"/><Relationship Id="rId10" Type="http://schemas.openxmlformats.org/officeDocument/2006/relationships/slide" Target="slides/slide4.xml"/><Relationship Id="rId32" Type="http://schemas.openxmlformats.org/officeDocument/2006/relationships/font" Target="fonts/HankenGrotesk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Neuton-italic.fntdata"/><Relationship Id="rId12" Type="http://schemas.openxmlformats.org/officeDocument/2006/relationships/slide" Target="slides/slide6.xml"/><Relationship Id="rId34" Type="http://schemas.openxmlformats.org/officeDocument/2006/relationships/font" Target="fonts/Neuton-bold.fntdata"/><Relationship Id="rId15" Type="http://schemas.openxmlformats.org/officeDocument/2006/relationships/slide" Target="slides/slide9.xml"/><Relationship Id="rId37" Type="http://schemas.openxmlformats.org/officeDocument/2006/relationships/font" Target="fonts/HankenGroteskLight-bold.fntdata"/><Relationship Id="rId14" Type="http://schemas.openxmlformats.org/officeDocument/2006/relationships/slide" Target="slides/slide8.xml"/><Relationship Id="rId36" Type="http://schemas.openxmlformats.org/officeDocument/2006/relationships/font" Target="fonts/HankenGroteskLight-regular.fntdata"/><Relationship Id="rId17" Type="http://schemas.openxmlformats.org/officeDocument/2006/relationships/slide" Target="slides/slide11.xml"/><Relationship Id="rId39" Type="http://schemas.openxmlformats.org/officeDocument/2006/relationships/font" Target="fonts/HankenGroteskLight-boldItalic.fntdata"/><Relationship Id="rId16" Type="http://schemas.openxmlformats.org/officeDocument/2006/relationships/slide" Target="slides/slide10.xml"/><Relationship Id="rId38" Type="http://schemas.openxmlformats.org/officeDocument/2006/relationships/font" Target="fonts/HankenGroteskLight-italic.fntdata"/><Relationship Id="rId19" Type="http://schemas.openxmlformats.org/officeDocument/2006/relationships/font" Target="fonts/HankenGroteskMedium-bold.fntdata"/><Relationship Id="rId18" Type="http://schemas.openxmlformats.org/officeDocument/2006/relationships/font" Target="fonts/HankenGrotesk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f6ab6f4b0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f6ab6f4b0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6ab6f4b07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f6ab6f4b07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f6ab6f4b07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f6ab6f4b07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f6ab6f4b07_0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f6ab6f4b07_0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f6ab6f4b07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f6ab6f4b07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f6ab6f4b07_0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f6ab6f4b07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f6ab6f4b07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f6ab6f4b07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f6ab6f4b07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f6ab6f4b07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f6ab6f4b07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f6ab6f4b07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f6ab6f4b07_0_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f6ab6f4b07_0_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4" name="Google Shape;74;p15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5" name="Google Shape;75;p15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6" name="Google Shape;76;p15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8" name="Google Shape;78;p15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0" name="Google Shape;80;p15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1" name="Google Shape;81;p15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" name="Google Shape;87;p1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" name="Google Shape;88;p1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6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16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" name="Google Shape;93;p16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" name="Google Shape;96;p16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" name="Google Shape;99;p16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16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1" name="Google Shape;101;p16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2" name="Google Shape;102;p16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" name="Google Shape;107;p1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17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7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17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9" name="Google Shape;119;p17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7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17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" name="Google Shape;122;p17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7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17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8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132" name="Google Shape;132;p18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5" name="Google Shape;135;p18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139" name="Google Shape;139;p19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1" name="Google Shape;141;p19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2" name="Google Shape;142;p19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143" name="Google Shape;143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46" name="Google Shape;146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8" name="Google Shape;148;p19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49" name="Google Shape;149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52" name="Google Shape;152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20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6" name="Google Shape;166;p21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8" name="Google Shape;168;p21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0" name="Google Shape;170;p21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2" name="Google Shape;172;p21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21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7" name="Google Shape;177;p21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1" name="Google Shape;181;p22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2" name="Google Shape;182;p22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3" name="Google Shape;183;p22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4" name="Google Shape;184;p22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5" name="Google Shape;185;p22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9" name="Google Shape;189;p23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2" name="Google Shape;202;p23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23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23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5" name="Google Shape;205;p23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23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5" name="Google Shape;215;p24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6" name="Google Shape;216;p24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7" name="Google Shape;217;p24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8" name="Google Shape;218;p24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6" name="Google Shape;226;p24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1" name="Google Shape;231;p24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4" name="Google Shape;234;p24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5" name="Google Shape;235;p24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6" name="Google Shape;236;p24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7" name="Google Shape;237;p24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8" name="Google Shape;238;p24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9" name="Google Shape;239;p24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" name="Google Shape;242;p24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24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5" name="Google Shape;245;p24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24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24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5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5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5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1" name="Google Shape;261;p25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25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25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25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8" name="Google Shape;278;p25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25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25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25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25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25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87" name="Google Shape;287;p2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8" name="Google Shape;288;p2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9" name="Google Shape;289;p2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0" name="Google Shape;290;p2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1" name="Google Shape;291;p26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2" name="Google Shape;292;p26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26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5" name="Google Shape;295;p26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26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8" name="Google Shape;298;p26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9" name="Google Shape;299;p26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26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2" name="Google Shape;302;p26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26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26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0" name="Google Shape;310;p26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26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6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3" name="Google Shape;313;p26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4" name="Google Shape;314;p26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5" name="Google Shape;315;p26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6" name="Google Shape;316;p26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7" name="Google Shape;317;p26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6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6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6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3" name="Google Shape;323;p2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4" name="Google Shape;324;p27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5" name="Google Shape;325;p27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328" name="Google Shape;328;p27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9" name="Google Shape;329;p27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2" name="Google Shape;332;p27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3" name="Google Shape;333;p27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4" name="Google Shape;334;p27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5" name="Google Shape;335;p27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6" name="Google Shape;336;p27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7" name="Google Shape;337;p27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8" name="Google Shape;338;p27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7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7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1" name="Google Shape;341;p27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2" name="Google Shape;342;p27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3" name="Google Shape;343;p27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4" name="Google Shape;344;p27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5" name="Google Shape;345;p27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6" name="Google Shape;346;p27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7" name="Google Shape;347;p27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27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49" name="Google Shape;349;p27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0" name="Google Shape;350;p27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1" name="Google Shape;351;p27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27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3" name="Google Shape;353;p27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4" name="Google Shape;354;p27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p27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27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7" name="Google Shape;357;p27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8" name="Google Shape;358;p27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9" name="Google Shape;359;p27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2" name="Google Shape;362;p28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3" name="Google Shape;363;p28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4" name="Google Shape;364;p28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5" name="Google Shape;365;p28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28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3" name="Google Shape;373;p28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28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28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28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28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4" name="Google Shape;384;p28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7" name="Google Shape;387;p28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28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9" name="Google Shape;389;p28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28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28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4" name="Google Shape;394;p2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95" name="Google Shape;395;p29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6" name="Google Shape;396;p29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7" name="Google Shape;397;p29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9" name="Google Shape;399;p29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0" name="Google Shape;400;p29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1" name="Google Shape;401;p29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29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4" name="Google Shape;404;p29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5" name="Google Shape;405;p29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9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9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8" name="Google Shape;408;p29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9" name="Google Shape;409;p29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0" name="Google Shape;410;p29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1" name="Google Shape;411;p29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2" name="Google Shape;412;p29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3" name="Google Shape;413;p29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4" name="Google Shape;414;p29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5" name="Google Shape;415;p29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6" name="Google Shape;416;p29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30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30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30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30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30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30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7" name="Google Shape;427;p30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8" name="Google Shape;428;p30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1" name="Google Shape;431;p30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2" name="Google Shape;432;p30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8" name="Google Shape;438;p3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9" name="Google Shape;439;p31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1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1" name="Google Shape;441;p31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31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3" name="Google Shape;443;p31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5" name="Google Shape;445;p31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6" name="Google Shape;446;p31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7" name="Google Shape;447;p31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50" name="Google Shape;450;p3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51" name="Google Shape;451;p32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32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3" name="Google Shape;453;p32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4" name="Google Shape;454;p32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5" name="Google Shape;455;p32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6" name="Google Shape;456;p32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7" name="Google Shape;457;p32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32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32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32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32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32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32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5" name="Google Shape;465;p32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6" name="Google Shape;466;p32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7" name="Google Shape;467;p32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32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2" name="Google Shape;472;p3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3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4" name="Google Shape;474;p3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5" name="Google Shape;475;p33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3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33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33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33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33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1" name="Google Shape;481;p33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2" name="Google Shape;482;p33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3" name="Google Shape;483;p33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4" name="Google Shape;484;p33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5" name="Google Shape;485;p3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3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7" name="Google Shape;487;p33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3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4" name="Google Shape;494;p3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5" name="Google Shape;495;p3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97" name="Google Shape;497;p34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98" name="Google Shape;498;p34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500" name="Google Shape;500;p3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1" name="Google Shape;501;p3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02" name="Google Shape;502;p3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3" name="Google Shape;503;p3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4" name="Google Shape;504;p3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5" name="Google Shape;505;p3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8" name="Google Shape;508;p3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9" name="Google Shape;509;p3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0" name="Google Shape;510;p3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1" name="Google Shape;511;p3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2" name="Google Shape;512;p3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3" name="Google Shape;513;p3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6" name="Google Shape;516;p3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17" name="Google Shape;517;p3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18" name="Google Shape;518;p3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35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2" name="Google Shape;522;p36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23" name="Google Shape;523;p36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24" name="Google Shape;524;p36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3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8" name="Google Shape;528;p37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9" name="Google Shape;529;p37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1" name="Google Shape;531;p37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2" name="Google Shape;532;p37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3" name="Google Shape;533;p37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5" name="Google Shape;535;p37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6" name="Google Shape;536;p37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7" name="Google Shape;537;p37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9" name="Google Shape;539;p37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0" name="Google Shape;540;p37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1" name="Google Shape;541;p37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2" name="Google Shape;542;p3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3" name="Google Shape;543;p37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5" name="Google Shape;545;p37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37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7" name="Google Shape;547;p37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37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37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37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37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37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7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37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5" name="Google Shape;555;p37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6" name="Google Shape;556;p37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7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0" name="Google Shape;560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5" name="Google Shape;5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8" name="Google Shape;568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9" name="Google Shape;569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4" name="Google Shape;574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9" name="Google Shape;579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0" name="Google Shape;580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5" name="Google Shape;585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9" name="Google Shape;589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0" name="Google Shape;590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1" name="Google Shape;591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2" name="Google Shape;592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3" name="Google Shape;593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4" name="Google Shape;594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8" name="Google Shape;598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2" name="Google Shape;602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3" name="Google Shape;603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4" name="Google Shape;604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7" name="Google Shape;607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8" name="Google Shape;608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9" name="Google Shape;609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0" name="Google Shape;610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1" name="Google Shape;611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2" name="Google Shape;612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5" name="Google Shape;615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6" name="Google Shape;616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7" name="Google Shape;617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8" name="Google Shape;618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9" name="Google Shape;619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0" name="Google Shape;620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1" name="Google Shape;621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2" name="Google Shape;622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25" name="Google Shape;625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8" name="Google Shape;628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1" name="Google Shape;63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32" name="Google Shape;632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3" name="Google Shape;633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6" name="Google Shape;636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9" name="Google Shape;639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40" name="Google Shape;640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1" name="Google Shape;64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42" name="Google Shape;642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3" name="Google Shape;643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4" name="Google Shape;644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55" name="Google Shape;655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veeanalyst/telco-churn-analys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9"/>
          <p:cNvSpPr txBox="1"/>
          <p:nvPr/>
        </p:nvSpPr>
        <p:spPr>
          <a:xfrm>
            <a:off x="461375" y="584075"/>
            <a:ext cx="8360100" cy="3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FFFFFF"/>
                </a:solidFill>
              </a:rPr>
              <a:t>CUSTOMER CHURN ANALYSIS</a:t>
            </a:r>
            <a:endParaRPr b="1" sz="4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</a:rPr>
              <a:t>ABC Communications Ltd.</a:t>
            </a:r>
            <a:endParaRPr sz="3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AnalystLab Africa  —  Week 1 Data Analytics Project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663" name="Google Shape;663;p59"/>
          <p:cNvSpPr txBox="1"/>
          <p:nvPr/>
        </p:nvSpPr>
        <p:spPr>
          <a:xfrm>
            <a:off x="461375" y="4196450"/>
            <a:ext cx="717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accent2"/>
                </a:solidFill>
              </a:rPr>
              <a:t>Prepared by: Veronica Wanjiku Gika</a:t>
            </a:r>
            <a:endParaRPr i="1" sz="1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0"/>
          <p:cNvSpPr txBox="1"/>
          <p:nvPr>
            <p:ph idx="4294967295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0000"/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669" name="Google Shape;669;p60"/>
          <p:cNvSpPr txBox="1"/>
          <p:nvPr/>
        </p:nvSpPr>
        <p:spPr>
          <a:xfrm>
            <a:off x="278925" y="253575"/>
            <a:ext cx="87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1E2761"/>
                </a:solidFill>
              </a:rPr>
              <a:t>Why Customer Churn Matters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0" name="Google Shape;670;p60"/>
          <p:cNvSpPr txBox="1"/>
          <p:nvPr/>
        </p:nvSpPr>
        <p:spPr>
          <a:xfrm>
            <a:off x="187650" y="942750"/>
            <a:ext cx="6111600" cy="3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73763"/>
                </a:solidFill>
              </a:rPr>
              <a:t>Customer churn erodes ABC Communications’ return on its customer acquisition investment. Marketing, onboarding, and retention costs are only recovered over a customer’s lifetime, when a customer leaves early, that investment is never fully repaid, and the company must spend again just to replace the lost revenue.</a:t>
            </a:r>
            <a:endParaRPr sz="18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73763"/>
                </a:solidFill>
              </a:rPr>
              <a:t>In telecom specifically, churn is a continuous risk rather than a single decision point, shaped by contract length, service bundling, and how long a customer has already stayed.</a:t>
            </a:r>
            <a:endParaRPr sz="1800">
              <a:solidFill>
                <a:srgbClr val="073763"/>
              </a:solidFill>
            </a:endParaRPr>
          </a:p>
        </p:txBody>
      </p:sp>
      <p:pic>
        <p:nvPicPr>
          <p:cNvPr id="671" name="Google Shape;67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175" y="1468813"/>
            <a:ext cx="2763376" cy="2649187"/>
          </a:xfrm>
          <a:prstGeom prst="rect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72" name="Google Shape;672;p60"/>
          <p:cNvSpPr txBox="1"/>
          <p:nvPr/>
        </p:nvSpPr>
        <p:spPr>
          <a:xfrm>
            <a:off x="6745150" y="1529000"/>
            <a:ext cx="187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27%</a:t>
            </a:r>
            <a:endParaRPr b="1" sz="24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3" name="Google Shape;673;p60"/>
          <p:cNvSpPr txBox="1"/>
          <p:nvPr/>
        </p:nvSpPr>
        <p:spPr>
          <a:xfrm>
            <a:off x="6361700" y="1982925"/>
            <a:ext cx="2629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4A4A"/>
                </a:solidFill>
              </a:rPr>
              <a:t>of ABC’s customers have churned</a:t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4" name="Google Shape;674;p60"/>
          <p:cNvSpPr txBox="1"/>
          <p:nvPr/>
        </p:nvSpPr>
        <p:spPr>
          <a:xfrm>
            <a:off x="6365963" y="2988313"/>
            <a:ext cx="26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1,869 of 7,043 customers lost — roughly 1 in 4</a:t>
            </a:r>
            <a:endParaRPr sz="1500">
              <a:solidFill>
                <a:srgbClr val="0000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675" name="Google Shape;675;p60"/>
          <p:cNvCxnSpPr/>
          <p:nvPr/>
        </p:nvCxnSpPr>
        <p:spPr>
          <a:xfrm>
            <a:off x="6380000" y="2809625"/>
            <a:ext cx="248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1"/>
          <p:cNvSpPr txBox="1"/>
          <p:nvPr>
            <p:ph idx="4294967295" type="subTitle"/>
          </p:nvPr>
        </p:nvSpPr>
        <p:spPr>
          <a:xfrm>
            <a:off x="594025" y="184700"/>
            <a:ext cx="78399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33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Dataset Overview &amp; Data Quality</a:t>
            </a:r>
            <a:endParaRPr b="1" sz="3300">
              <a:solidFill>
                <a:srgbClr val="1C4587"/>
              </a:solidFill>
            </a:endParaRPr>
          </a:p>
        </p:txBody>
      </p:sp>
      <p:sp>
        <p:nvSpPr>
          <p:cNvPr id="681" name="Google Shape;681;p61"/>
          <p:cNvSpPr txBox="1"/>
          <p:nvPr>
            <p:ph idx="4294967295" type="title"/>
          </p:nvPr>
        </p:nvSpPr>
        <p:spPr>
          <a:xfrm>
            <a:off x="-2450" y="3205225"/>
            <a:ext cx="91506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Fixed 11 blank TotalCharges values (all new customers with 0 tenure) — set to 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Verified SeniorCitizen coding (0/1) retained for correlation analysis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Confirmed 3-category service fields (Yes / No / No internet service) reflect real distinct customer types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1"/>
          <p:cNvSpPr txBox="1"/>
          <p:nvPr>
            <p:ph idx="4294967295" type="title"/>
          </p:nvPr>
        </p:nvSpPr>
        <p:spPr>
          <a:xfrm>
            <a:off x="850" y="2571749"/>
            <a:ext cx="9144000" cy="7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Arial"/>
              <a:buNone/>
            </a:pPr>
            <a:r>
              <a:rPr lang="en" sz="3000">
                <a:solidFill>
                  <a:srgbClr val="1C4587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Data Quality Steps Taken</a:t>
            </a:r>
            <a:endParaRPr sz="3000">
              <a:solidFill>
                <a:srgbClr val="1C4587"/>
              </a:solidFill>
              <a:latin typeface="Hanken Grotesk SemiBold"/>
              <a:ea typeface="Hanken Grotesk SemiBold"/>
              <a:cs typeface="Hanken Grotesk SemiBold"/>
              <a:sym typeface="Hanken Grotesk SemiBold"/>
            </a:endParaRPr>
          </a:p>
        </p:txBody>
      </p:sp>
      <p:grpSp>
        <p:nvGrpSpPr>
          <p:cNvPr id="683" name="Google Shape;683;p61"/>
          <p:cNvGrpSpPr/>
          <p:nvPr/>
        </p:nvGrpSpPr>
        <p:grpSpPr>
          <a:xfrm>
            <a:off x="263725" y="831207"/>
            <a:ext cx="8880500" cy="1445928"/>
            <a:chOff x="260326" y="255349"/>
            <a:chExt cx="3946889" cy="821877"/>
          </a:xfrm>
        </p:grpSpPr>
        <p:grpSp>
          <p:nvGrpSpPr>
            <p:cNvPr id="684" name="Google Shape;684;p61"/>
            <p:cNvGrpSpPr/>
            <p:nvPr/>
          </p:nvGrpSpPr>
          <p:grpSpPr>
            <a:xfrm>
              <a:off x="2128510" y="255361"/>
              <a:ext cx="1079400" cy="821865"/>
              <a:chOff x="2128510" y="255361"/>
              <a:chExt cx="1079400" cy="821865"/>
            </a:xfrm>
          </p:grpSpPr>
          <p:pic>
            <p:nvPicPr>
              <p:cNvPr id="685" name="Google Shape;685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2078" r="2089" t="0"/>
              <a:stretch/>
            </p:blipFill>
            <p:spPr>
              <a:xfrm>
                <a:off x="2292876" y="255361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6" name="Google Shape;686;p61"/>
              <p:cNvSpPr/>
              <p:nvPr/>
            </p:nvSpPr>
            <p:spPr>
              <a:xfrm>
                <a:off x="2128510" y="316126"/>
                <a:ext cx="1079400" cy="761100"/>
              </a:xfrm>
              <a:prstGeom prst="roundRect">
                <a:avLst>
                  <a:gd fmla="val 5925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251275" lIns="251275" spcFirstLastPara="1" rIns="251275" wrap="square" tIns="25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606">
                    <a:latin typeface="Hanken Grotesk"/>
                    <a:ea typeface="Hanken Grotesk"/>
                    <a:cs typeface="Hanken Grotesk"/>
                    <a:sym typeface="Hanken Grotesk"/>
                  </a:rPr>
                  <a:t>11</a:t>
                </a:r>
                <a:endParaRPr b="1" sz="3606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2">
                    <a:latin typeface="Hanken Grotesk"/>
                    <a:ea typeface="Hanken Grotesk"/>
                    <a:cs typeface="Hanken Grotesk"/>
                    <a:sym typeface="Hanken Grotesk"/>
                  </a:rPr>
                  <a:t>Records with missing billing data (</a:t>
                </a:r>
                <a:r>
                  <a:rPr lang="en" sz="1402">
                    <a:latin typeface="Hanken Grotesk"/>
                    <a:ea typeface="Hanken Grotesk"/>
                    <a:cs typeface="Hanken Grotesk"/>
                    <a:sym typeface="Hanken Grotesk"/>
                  </a:rPr>
                  <a:t>identified &amp; corrected</a:t>
                </a:r>
                <a:r>
                  <a:rPr b="1" lang="en" sz="1402">
                    <a:latin typeface="Hanken Grotesk"/>
                    <a:ea typeface="Hanken Grotesk"/>
                    <a:cs typeface="Hanken Grotesk"/>
                    <a:sym typeface="Hanken Grotesk"/>
                  </a:rPr>
                  <a:t>)</a:t>
                </a:r>
                <a:endParaRPr b="1" sz="1402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2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687" name="Google Shape;687;p61"/>
            <p:cNvGrpSpPr/>
            <p:nvPr/>
          </p:nvGrpSpPr>
          <p:grpSpPr>
            <a:xfrm>
              <a:off x="1208415" y="255349"/>
              <a:ext cx="920100" cy="821797"/>
              <a:chOff x="1208415" y="255349"/>
              <a:chExt cx="920100" cy="821797"/>
            </a:xfrm>
          </p:grpSpPr>
          <p:pic>
            <p:nvPicPr>
              <p:cNvPr id="688" name="Google Shape;688;p61"/>
              <p:cNvPicPr preferRelativeResize="0"/>
              <p:nvPr/>
            </p:nvPicPr>
            <p:blipFill rotWithShape="1">
              <a:blip r:embed="rId4">
                <a:alphaModFix/>
              </a:blip>
              <a:srcRect b="0" l="1923" r="1912" t="0"/>
              <a:stretch/>
            </p:blipFill>
            <p:spPr>
              <a:xfrm>
                <a:off x="1276601" y="255349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9" name="Google Shape;689;p61"/>
              <p:cNvSpPr/>
              <p:nvPr/>
            </p:nvSpPr>
            <p:spPr>
              <a:xfrm>
                <a:off x="1208415" y="298046"/>
                <a:ext cx="920100" cy="779100"/>
              </a:xfrm>
              <a:prstGeom prst="roundRect">
                <a:avLst>
                  <a:gd fmla="val 5925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251275" lIns="251275" spcFirstLastPara="1" rIns="251275" wrap="square" tIns="25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606">
                    <a:latin typeface="Hanken Grotesk"/>
                    <a:ea typeface="Hanken Grotesk"/>
                    <a:cs typeface="Hanken Grotesk"/>
                    <a:sym typeface="Hanken Grotesk"/>
                  </a:rPr>
                  <a:t>21</a:t>
                </a:r>
                <a:endParaRPr b="1" sz="3606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2">
                    <a:latin typeface="Hanken Grotesk"/>
                    <a:ea typeface="Hanken Grotesk"/>
                    <a:cs typeface="Hanken Grotesk"/>
                    <a:sym typeface="Hanken Grotesk"/>
                  </a:rPr>
                  <a:t>Attributes per customer</a:t>
                </a:r>
                <a:endParaRPr b="1" sz="1402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2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690" name="Google Shape;690;p61"/>
            <p:cNvGrpSpPr/>
            <p:nvPr/>
          </p:nvGrpSpPr>
          <p:grpSpPr>
            <a:xfrm>
              <a:off x="3207915" y="255361"/>
              <a:ext cx="999300" cy="821728"/>
              <a:chOff x="3207915" y="255361"/>
              <a:chExt cx="999300" cy="821728"/>
            </a:xfrm>
          </p:grpSpPr>
          <p:sp>
            <p:nvSpPr>
              <p:cNvPr id="691" name="Google Shape;691;p61"/>
              <p:cNvSpPr/>
              <p:nvPr/>
            </p:nvSpPr>
            <p:spPr>
              <a:xfrm>
                <a:off x="3207915" y="297989"/>
                <a:ext cx="999300" cy="779100"/>
              </a:xfrm>
              <a:prstGeom prst="roundRect">
                <a:avLst>
                  <a:gd fmla="val 5925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251275" lIns="251275" spcFirstLastPara="1" rIns="251275" wrap="square" tIns="25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606">
                    <a:latin typeface="Hanken Grotesk"/>
                    <a:ea typeface="Hanken Grotesk"/>
                    <a:cs typeface="Hanken Grotesk"/>
                    <a:sym typeface="Hanken Grotesk"/>
                  </a:rPr>
                  <a:t>0</a:t>
                </a:r>
                <a:endParaRPr b="1" sz="3606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2">
                    <a:latin typeface="Hanken Grotesk"/>
                    <a:ea typeface="Hanken Grotesk"/>
                    <a:cs typeface="Hanken Grotesk"/>
                    <a:sym typeface="Hanken Grotesk"/>
                  </a:rPr>
                  <a:t>Duplicate customers found</a:t>
                </a:r>
                <a:endParaRPr b="1" sz="1402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pic>
            <p:nvPicPr>
              <p:cNvPr id="692" name="Google Shape;692;p61"/>
              <p:cNvPicPr preferRelativeResize="0"/>
              <p:nvPr/>
            </p:nvPicPr>
            <p:blipFill rotWithShape="1">
              <a:blip r:embed="rId5">
                <a:alphaModFix/>
              </a:blip>
              <a:srcRect b="0" l="1923" r="1912" t="0"/>
              <a:stretch/>
            </p:blipFill>
            <p:spPr>
              <a:xfrm>
                <a:off x="3309151" y="255361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93" name="Google Shape;693;p61"/>
            <p:cNvGrpSpPr/>
            <p:nvPr/>
          </p:nvGrpSpPr>
          <p:grpSpPr>
            <a:xfrm>
              <a:off x="260326" y="255349"/>
              <a:ext cx="948089" cy="821855"/>
              <a:chOff x="-1605961" y="1469582"/>
              <a:chExt cx="1516942" cy="1309102"/>
            </a:xfrm>
          </p:grpSpPr>
          <p:pic>
            <p:nvPicPr>
              <p:cNvPr id="694" name="Google Shape;694;p61"/>
              <p:cNvPicPr preferRelativeResize="0"/>
              <p:nvPr/>
            </p:nvPicPr>
            <p:blipFill rotWithShape="1">
              <a:blip r:embed="rId6">
                <a:alphaModFix/>
              </a:blip>
              <a:srcRect b="0" l="1699" r="1709" t="0"/>
              <a:stretch/>
            </p:blipFill>
            <p:spPr>
              <a:xfrm>
                <a:off x="-1605961" y="1469582"/>
                <a:ext cx="581984" cy="9678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5" name="Google Shape;695;p61"/>
              <p:cNvSpPr/>
              <p:nvPr/>
            </p:nvSpPr>
            <p:spPr>
              <a:xfrm flipH="1">
                <a:off x="-1605819" y="1566384"/>
                <a:ext cx="1516800" cy="1212300"/>
              </a:xfrm>
              <a:prstGeom prst="roundRect">
                <a:avLst>
                  <a:gd fmla="val 5925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b" bIns="251275" lIns="251275" spcFirstLastPara="1" rIns="251275" wrap="square" tIns="251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606">
                    <a:latin typeface="Hanken Grotesk"/>
                    <a:ea typeface="Hanken Grotesk"/>
                    <a:cs typeface="Hanken Grotesk"/>
                    <a:sym typeface="Hanken Grotesk"/>
                  </a:rPr>
                  <a:t>7,043</a:t>
                </a:r>
                <a:endParaRPr b="1" sz="3606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2">
                    <a:latin typeface="Hanken Grotesk"/>
                    <a:ea typeface="Hanken Grotesk"/>
                    <a:cs typeface="Hanken Grotesk"/>
                    <a:sym typeface="Hanken Grotesk"/>
                  </a:rPr>
                  <a:t>Customer records</a:t>
                </a:r>
                <a:endParaRPr b="1" sz="1402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402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2"/>
          <p:cNvSpPr txBox="1"/>
          <p:nvPr/>
        </p:nvSpPr>
        <p:spPr>
          <a:xfrm>
            <a:off x="507150" y="192725"/>
            <a:ext cx="865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C4587"/>
                </a:solidFill>
              </a:rPr>
              <a:t>Driver 1: Contract Length</a:t>
            </a:r>
            <a:endParaRPr b="1" sz="3600">
              <a:solidFill>
                <a:srgbClr val="1C4587"/>
              </a:solidFill>
            </a:endParaRPr>
          </a:p>
        </p:txBody>
      </p:sp>
      <p:pic>
        <p:nvPicPr>
          <p:cNvPr id="701" name="Google Shape;70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4025"/>
            <a:ext cx="5466875" cy="390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4400" y="1000125"/>
            <a:ext cx="3184074" cy="15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62"/>
          <p:cNvSpPr txBox="1"/>
          <p:nvPr/>
        </p:nvSpPr>
        <p:spPr>
          <a:xfrm>
            <a:off x="5845775" y="1371400"/>
            <a:ext cx="85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15x       </a:t>
            </a:r>
            <a:endParaRPr b="1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4" name="Google Shape;704;p62"/>
          <p:cNvSpPr txBox="1"/>
          <p:nvPr/>
        </p:nvSpPr>
        <p:spPr>
          <a:xfrm>
            <a:off x="6702875" y="1232800"/>
            <a:ext cx="2216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higher churn risk on month-to-month </a:t>
            </a:r>
            <a:br>
              <a:rPr lang="en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vs. </a:t>
            </a:r>
            <a:br>
              <a:rPr lang="en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two-year contracts</a:t>
            </a:r>
            <a:endParaRPr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5" name="Google Shape;705;p62"/>
          <p:cNvSpPr txBox="1"/>
          <p:nvPr/>
        </p:nvSpPr>
        <p:spPr>
          <a:xfrm>
            <a:off x="5821125" y="2824850"/>
            <a:ext cx="3245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Month-to-month</a:t>
            </a: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: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43% churn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One-year contract</a:t>
            </a: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: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11% churn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Two-year contract</a:t>
            </a: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: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3% churn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No contractual lock-in means near-zero switching friction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Strongest actionable lever in the dataset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63"/>
          <p:cNvSpPr txBox="1"/>
          <p:nvPr/>
        </p:nvSpPr>
        <p:spPr>
          <a:xfrm>
            <a:off x="507150" y="192725"/>
            <a:ext cx="865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C4587"/>
                </a:solidFill>
              </a:rPr>
              <a:t>Driver 2: Payment Method</a:t>
            </a:r>
            <a:endParaRPr b="1" sz="3600">
              <a:solidFill>
                <a:srgbClr val="1C4587"/>
              </a:solidFill>
            </a:endParaRPr>
          </a:p>
        </p:txBody>
      </p:sp>
      <p:pic>
        <p:nvPicPr>
          <p:cNvPr id="711" name="Google Shape;71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4400" y="1000125"/>
            <a:ext cx="3184074" cy="15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63"/>
          <p:cNvSpPr txBox="1"/>
          <p:nvPr/>
        </p:nvSpPr>
        <p:spPr>
          <a:xfrm>
            <a:off x="5845775" y="1371400"/>
            <a:ext cx="85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2.8</a:t>
            </a:r>
            <a:r>
              <a:rPr b="1" lang="en" sz="2400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x       </a:t>
            </a:r>
            <a:endParaRPr b="1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3" name="Google Shape;713;p63"/>
          <p:cNvSpPr txBox="1"/>
          <p:nvPr/>
        </p:nvSpPr>
        <p:spPr>
          <a:xfrm>
            <a:off x="6916650" y="1232800"/>
            <a:ext cx="200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higher churn for electronic check vs. automatic payment</a:t>
            </a:r>
            <a:endParaRPr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4" name="Google Shape;714;p63"/>
          <p:cNvSpPr txBox="1"/>
          <p:nvPr/>
        </p:nvSpPr>
        <p:spPr>
          <a:xfrm>
            <a:off x="5821125" y="2824850"/>
            <a:ext cx="3245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Electronic check: 45% churn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Mailed check: 19% churn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Bank transfer (automatic): 17%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 card (automatic): 15%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Automatic payments remove recurring re-engagement moments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715" name="Google Shape;715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84025"/>
            <a:ext cx="5479600" cy="325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4"/>
          <p:cNvSpPr txBox="1"/>
          <p:nvPr/>
        </p:nvSpPr>
        <p:spPr>
          <a:xfrm>
            <a:off x="507150" y="192725"/>
            <a:ext cx="865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C4587"/>
                </a:solidFill>
              </a:rPr>
              <a:t>Driver 3: Service Add-Ons</a:t>
            </a:r>
            <a:endParaRPr b="1" sz="3600">
              <a:solidFill>
                <a:srgbClr val="1C4587"/>
              </a:solidFill>
            </a:endParaRPr>
          </a:p>
        </p:txBody>
      </p:sp>
      <p:pic>
        <p:nvPicPr>
          <p:cNvPr id="721" name="Google Shape;72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4400" y="1000125"/>
            <a:ext cx="3184074" cy="15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64"/>
          <p:cNvSpPr txBox="1"/>
          <p:nvPr/>
        </p:nvSpPr>
        <p:spPr>
          <a:xfrm>
            <a:off x="5845775" y="1371400"/>
            <a:ext cx="85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2.9x       </a:t>
            </a:r>
            <a:endParaRPr b="1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3" name="Google Shape;723;p64"/>
          <p:cNvSpPr txBox="1"/>
          <p:nvPr/>
        </p:nvSpPr>
        <p:spPr>
          <a:xfrm>
            <a:off x="6916650" y="1232800"/>
            <a:ext cx="200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higher churn for customers without online security</a:t>
            </a:r>
            <a:endParaRPr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4" name="Google Shape;724;p64"/>
          <p:cNvSpPr txBox="1"/>
          <p:nvPr/>
        </p:nvSpPr>
        <p:spPr>
          <a:xfrm>
            <a:off x="5821125" y="2824850"/>
            <a:ext cx="3245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No security (has internet): 42% churn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Has security: 15% churn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No internet service (phone-only): 8% churn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Add-on adoption signals stronger engagement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49% of customers currently lack this add-on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725" name="Google Shape;725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84025"/>
            <a:ext cx="5479600" cy="3293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5"/>
          <p:cNvSpPr txBox="1"/>
          <p:nvPr/>
        </p:nvSpPr>
        <p:spPr>
          <a:xfrm>
            <a:off x="507150" y="192725"/>
            <a:ext cx="865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C4587"/>
                </a:solidFill>
              </a:rPr>
              <a:t>Driver 4: Customer Lifecycle &amp; Tenure</a:t>
            </a:r>
            <a:endParaRPr b="1" sz="3600">
              <a:solidFill>
                <a:srgbClr val="1C4587"/>
              </a:solidFill>
            </a:endParaRPr>
          </a:p>
        </p:txBody>
      </p:sp>
      <p:pic>
        <p:nvPicPr>
          <p:cNvPr id="731" name="Google Shape;73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" y="1084025"/>
            <a:ext cx="4370626" cy="3907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9700" y="1084025"/>
            <a:ext cx="4476750" cy="2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6"/>
          <p:cNvSpPr txBox="1"/>
          <p:nvPr/>
        </p:nvSpPr>
        <p:spPr>
          <a:xfrm>
            <a:off x="507150" y="192725"/>
            <a:ext cx="865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C4587"/>
                </a:solidFill>
              </a:rPr>
              <a:t>Driver 3: Service Add-Ons</a:t>
            </a:r>
            <a:endParaRPr b="1" sz="3600">
              <a:solidFill>
                <a:srgbClr val="1C4587"/>
              </a:solidFill>
            </a:endParaRPr>
          </a:p>
        </p:txBody>
      </p:sp>
      <p:pic>
        <p:nvPicPr>
          <p:cNvPr id="738" name="Google Shape;73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350" y="1000125"/>
            <a:ext cx="2988125" cy="15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6"/>
          <p:cNvSpPr txBox="1"/>
          <p:nvPr/>
        </p:nvSpPr>
        <p:spPr>
          <a:xfrm>
            <a:off x="5921975" y="1371400"/>
            <a:ext cx="10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-0.35x</a:t>
            </a:r>
            <a:endParaRPr b="1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0" name="Google Shape;740;p66"/>
          <p:cNvSpPr txBox="1"/>
          <p:nvPr/>
        </p:nvSpPr>
        <p:spPr>
          <a:xfrm>
            <a:off x="7156350" y="1232800"/>
            <a:ext cx="181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Tenure’s correlation with churn - the strongest numeric predictor in the dataset</a:t>
            </a:r>
            <a:endParaRPr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1" name="Google Shape;741;p66"/>
          <p:cNvSpPr txBox="1"/>
          <p:nvPr/>
        </p:nvSpPr>
        <p:spPr>
          <a:xfrm>
            <a:off x="273500" y="2994050"/>
            <a:ext cx="3245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No security (has internet): 42% churn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Has security: 15% churn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No internet service (phone-only): 8% churn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Add-on adoption signals stronger engagement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49% of customers currently lack this add-on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742" name="Google Shape;74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197" y="1100825"/>
            <a:ext cx="5676200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6"/>
          <p:cNvSpPr txBox="1"/>
          <p:nvPr/>
        </p:nvSpPr>
        <p:spPr>
          <a:xfrm>
            <a:off x="5794563" y="2670700"/>
            <a:ext cx="3359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Longer-tenured customers are meaningfully less likely to churn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TotalCharges (-0.20) largely re-expresses tenure (0.83 correlation between the two); not an independent driver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MonthlyCharges (0.19) and SeniorCitizen (0.15) show weaker relationships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Tenure should anchor any predictive retention model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7"/>
          <p:cNvSpPr txBox="1"/>
          <p:nvPr>
            <p:ph idx="4294967295" type="subTitle"/>
          </p:nvPr>
        </p:nvSpPr>
        <p:spPr>
          <a:xfrm>
            <a:off x="594025" y="184700"/>
            <a:ext cx="78399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3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Dataset Overview &amp; Data Quality</a:t>
            </a:r>
            <a:endParaRPr b="1" sz="3300">
              <a:solidFill>
                <a:schemeClr val="lt2"/>
              </a:solidFill>
            </a:endParaRPr>
          </a:p>
        </p:txBody>
      </p:sp>
      <p:grpSp>
        <p:nvGrpSpPr>
          <p:cNvPr id="749" name="Google Shape;749;p67"/>
          <p:cNvGrpSpPr/>
          <p:nvPr/>
        </p:nvGrpSpPr>
        <p:grpSpPr>
          <a:xfrm>
            <a:off x="151045" y="831201"/>
            <a:ext cx="8449840" cy="3732512"/>
            <a:chOff x="260326" y="255349"/>
            <a:chExt cx="2947584" cy="2121589"/>
          </a:xfrm>
        </p:grpSpPr>
        <p:grpSp>
          <p:nvGrpSpPr>
            <p:cNvPr id="750" name="Google Shape;750;p67"/>
            <p:cNvGrpSpPr/>
            <p:nvPr/>
          </p:nvGrpSpPr>
          <p:grpSpPr>
            <a:xfrm>
              <a:off x="2128511" y="255361"/>
              <a:ext cx="1079400" cy="2103467"/>
              <a:chOff x="2128511" y="255361"/>
              <a:chExt cx="1079400" cy="2103467"/>
            </a:xfrm>
          </p:grpSpPr>
          <p:pic>
            <p:nvPicPr>
              <p:cNvPr id="751" name="Google Shape;751;p67"/>
              <p:cNvPicPr preferRelativeResize="0"/>
              <p:nvPr/>
            </p:nvPicPr>
            <p:blipFill rotWithShape="1">
              <a:blip r:embed="rId3">
                <a:alphaModFix/>
              </a:blip>
              <a:srcRect b="0" l="2080" r="2089" t="0"/>
              <a:stretch/>
            </p:blipFill>
            <p:spPr>
              <a:xfrm>
                <a:off x="2292876" y="255361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2" name="Google Shape;752;p67"/>
              <p:cNvSpPr/>
              <p:nvPr/>
            </p:nvSpPr>
            <p:spPr>
              <a:xfrm>
                <a:off x="2128511" y="316128"/>
                <a:ext cx="1079400" cy="2042700"/>
              </a:xfrm>
              <a:prstGeom prst="roundRect">
                <a:avLst>
                  <a:gd fmla="val 5925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51275" lIns="251275" spcFirstLastPara="1" rIns="251275" wrap="square" tIns="2512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latin typeface="Hanken Grotesk"/>
                    <a:ea typeface="Hanken Grotesk"/>
                    <a:cs typeface="Hanken Grotesk"/>
                    <a:sym typeface="Hanken Grotesk"/>
                  </a:rPr>
                  <a:t>most churn happens before month 12, undermining the return on every acquisition dollar spent.</a:t>
                </a:r>
                <a:endParaRPr sz="2000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753" name="Google Shape;753;p67"/>
            <p:cNvGrpSpPr/>
            <p:nvPr/>
          </p:nvGrpSpPr>
          <p:grpSpPr>
            <a:xfrm>
              <a:off x="1208412" y="255349"/>
              <a:ext cx="920100" cy="2103411"/>
              <a:chOff x="1208412" y="255349"/>
              <a:chExt cx="920100" cy="2103411"/>
            </a:xfrm>
          </p:grpSpPr>
          <p:pic>
            <p:nvPicPr>
              <p:cNvPr id="754" name="Google Shape;754;p67"/>
              <p:cNvPicPr preferRelativeResize="0"/>
              <p:nvPr/>
            </p:nvPicPr>
            <p:blipFill rotWithShape="1">
              <a:blip r:embed="rId4">
                <a:alphaModFix/>
              </a:blip>
              <a:srcRect b="0" l="1923" r="1914" t="0"/>
              <a:stretch/>
            </p:blipFill>
            <p:spPr>
              <a:xfrm>
                <a:off x="1276601" y="255349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5" name="Google Shape;755;p67"/>
              <p:cNvSpPr/>
              <p:nvPr/>
            </p:nvSpPr>
            <p:spPr>
              <a:xfrm>
                <a:off x="1208412" y="298060"/>
                <a:ext cx="920100" cy="2060700"/>
              </a:xfrm>
              <a:prstGeom prst="roundRect">
                <a:avLst>
                  <a:gd fmla="val 5925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251275" lIns="251275" spcFirstLastPara="1" rIns="251275" wrap="square" tIns="251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3606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latin typeface="Hanken Grotesk"/>
                    <a:ea typeface="Hanken Grotesk"/>
                    <a:cs typeface="Hanken Grotesk"/>
                    <a:sym typeface="Hanken Grotesk"/>
                  </a:rPr>
                  <a:t>churn rate for manual-payment customers — a friction point actively costing ABC revenue.</a:t>
                </a:r>
                <a:endParaRPr sz="2000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402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2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756" name="Google Shape;756;p67"/>
            <p:cNvGrpSpPr/>
            <p:nvPr/>
          </p:nvGrpSpPr>
          <p:grpSpPr>
            <a:xfrm>
              <a:off x="260326" y="255349"/>
              <a:ext cx="948089" cy="2121589"/>
              <a:chOff x="-1605961" y="1469582"/>
              <a:chExt cx="1516942" cy="3379403"/>
            </a:xfrm>
          </p:grpSpPr>
          <p:pic>
            <p:nvPicPr>
              <p:cNvPr id="757" name="Google Shape;757;p67"/>
              <p:cNvPicPr preferRelativeResize="0"/>
              <p:nvPr/>
            </p:nvPicPr>
            <p:blipFill rotWithShape="1">
              <a:blip r:embed="rId5">
                <a:alphaModFix/>
              </a:blip>
              <a:srcRect b="0" l="1700" r="1710" t="0"/>
              <a:stretch/>
            </p:blipFill>
            <p:spPr>
              <a:xfrm>
                <a:off x="-1605961" y="1469582"/>
                <a:ext cx="581984" cy="9678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8" name="Google Shape;758;p67"/>
              <p:cNvSpPr/>
              <p:nvPr/>
            </p:nvSpPr>
            <p:spPr>
              <a:xfrm flipH="1">
                <a:off x="-1605819" y="1566385"/>
                <a:ext cx="1516800" cy="3282600"/>
              </a:xfrm>
              <a:prstGeom prst="roundRect">
                <a:avLst>
                  <a:gd fmla="val 5925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51275" lIns="251275" spcFirstLastPara="1" rIns="251275" wrap="square" tIns="251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latin typeface="Hanken Grotesk"/>
                    <a:ea typeface="Hanken Grotesk"/>
                    <a:cs typeface="Hanken Grotesk"/>
                    <a:sym typeface="Hanken Grotesk"/>
                  </a:rPr>
                  <a:t>of customers are on month-to-month plans, a large, structurally unprotected revenue base.</a:t>
                </a:r>
                <a:endParaRPr sz="2000"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</p:grpSp>
      <p:sp>
        <p:nvSpPr>
          <p:cNvPr id="759" name="Google Shape;759;p67"/>
          <p:cNvSpPr txBox="1"/>
          <p:nvPr/>
        </p:nvSpPr>
        <p:spPr>
          <a:xfrm>
            <a:off x="665400" y="1269550"/>
            <a:ext cx="1138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55%</a:t>
            </a:r>
            <a:endParaRPr b="1" sz="3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0" name="Google Shape;760;p67"/>
          <p:cNvSpPr txBox="1"/>
          <p:nvPr/>
        </p:nvSpPr>
        <p:spPr>
          <a:xfrm>
            <a:off x="3372000" y="1147075"/>
            <a:ext cx="12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35%</a:t>
            </a:r>
            <a:endParaRPr b="1" sz="3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1" name="Google Shape;761;p67"/>
          <p:cNvSpPr txBox="1"/>
          <p:nvPr/>
        </p:nvSpPr>
        <p:spPr>
          <a:xfrm>
            <a:off x="5519425" y="1162525"/>
            <a:ext cx="2914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Leaky bucket</a:t>
            </a:r>
            <a:endParaRPr b="1" sz="34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8"/>
          <p:cNvSpPr txBox="1"/>
          <p:nvPr/>
        </p:nvSpPr>
        <p:spPr>
          <a:xfrm>
            <a:off x="616400" y="265350"/>
            <a:ext cx="705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1C4587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Recommendations</a:t>
            </a:r>
            <a:endParaRPr b="1" sz="4800">
              <a:solidFill>
                <a:srgbClr val="1C4587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7" name="Google Shape;767;p68"/>
          <p:cNvSpPr txBox="1"/>
          <p:nvPr/>
        </p:nvSpPr>
        <p:spPr>
          <a:xfrm>
            <a:off x="200025" y="1122600"/>
            <a:ext cx="76827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Char char="●"/>
            </a:pPr>
            <a:r>
              <a:rPr lang="en" sz="1800">
                <a:solidFill>
                  <a:srgbClr val="073763"/>
                </a:solidFill>
              </a:rPr>
              <a:t>Incentivize month-to-month customers to migrate toward one- or two-year contracts (loyalty discounts, bundled pricing).</a:t>
            </a:r>
            <a:endParaRPr sz="1800">
              <a:solidFill>
                <a:srgbClr val="07376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Char char="●"/>
            </a:pPr>
            <a:r>
              <a:rPr lang="en" sz="1800">
                <a:solidFill>
                  <a:srgbClr val="073763"/>
                </a:solidFill>
              </a:rPr>
              <a:t>Offer simplified, bundled service packages and dedicated support for senior customers; validate the driver with a short survey.</a:t>
            </a:r>
            <a:endParaRPr sz="1800">
              <a:solidFill>
                <a:srgbClr val="07376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Char char="●"/>
            </a:pPr>
            <a:r>
              <a:rPr lang="en" sz="1800">
                <a:solidFill>
                  <a:srgbClr val="073763"/>
                </a:solidFill>
              </a:rPr>
              <a:t>Proactively offer or bundle online security with internet plans, nearly half of customers currently lack this add-on.</a:t>
            </a:r>
            <a:endParaRPr sz="1800">
              <a:solidFill>
                <a:srgbClr val="07376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Char char="●"/>
            </a:pPr>
            <a:r>
              <a:rPr lang="en" sz="1800">
                <a:solidFill>
                  <a:srgbClr val="073763"/>
                </a:solidFill>
              </a:rPr>
              <a:t>Launch a structured 90-day onboarding program with check-ins and loyalty milestones at 6 and 12 months.</a:t>
            </a:r>
            <a:endParaRPr sz="1800">
              <a:solidFill>
                <a:srgbClr val="07376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Char char="●"/>
            </a:pPr>
            <a:r>
              <a:rPr lang="en" sz="1800">
                <a:solidFill>
                  <a:srgbClr val="073763"/>
                </a:solidFill>
              </a:rPr>
              <a:t>Run a targeted campaign moving manual-payment customers to autopay, using a bill credit or fee waiver as incentive.</a:t>
            </a:r>
            <a:endParaRPr sz="18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9"/>
          <p:cNvSpPr txBox="1"/>
          <p:nvPr/>
        </p:nvSpPr>
        <p:spPr>
          <a:xfrm>
            <a:off x="187775" y="2571750"/>
            <a:ext cx="705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Thank You</a:t>
            </a:r>
            <a:endParaRPr b="1" sz="48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3" name="Google Shape;773;p69"/>
          <p:cNvSpPr txBox="1"/>
          <p:nvPr/>
        </p:nvSpPr>
        <p:spPr>
          <a:xfrm>
            <a:off x="187775" y="3495150"/>
            <a:ext cx="705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rPr>
              <a:t>Full report, workbook, and data available on GitHub</a:t>
            </a:r>
            <a:endParaRPr sz="1800">
              <a:solidFill>
                <a:srgbClr val="FFFFFF"/>
              </a:solidFill>
              <a:latin typeface="Hanken Grotesk Medium"/>
              <a:ea typeface="Hanken Grotesk Medium"/>
              <a:cs typeface="Hanken Grotesk Medium"/>
              <a:sym typeface="Hanken Grotesk Medium"/>
            </a:endParaRPr>
          </a:p>
        </p:txBody>
      </p:sp>
      <p:sp>
        <p:nvSpPr>
          <p:cNvPr id="774" name="Google Shape;774;p69"/>
          <p:cNvSpPr txBox="1"/>
          <p:nvPr/>
        </p:nvSpPr>
        <p:spPr>
          <a:xfrm>
            <a:off x="249000" y="4171950"/>
            <a:ext cx="705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https://github.com/veeanalyst/telco-churn-analysis</a:t>
            </a:r>
            <a:r>
              <a:rPr i="1" lang="en" sz="1600" u="sng">
                <a:solidFill>
                  <a:srgbClr val="FFFFFF"/>
                </a:solidFill>
              </a:rPr>
              <a:t> </a:t>
            </a:r>
            <a:endParaRPr i="1" sz="1600" u="sng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